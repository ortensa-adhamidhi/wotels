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tensa ." userId="691afe78e131124f" providerId="LiveId" clId="{2EA450B9-114D-4734-8CA8-835804C15576}"/>
    <pc:docChg chg="custSel modSld">
      <pc:chgData name="Ortensa ." userId="691afe78e131124f" providerId="LiveId" clId="{2EA450B9-114D-4734-8CA8-835804C15576}" dt="2026-07-28T15:57:27.385" v="275" actId="1036"/>
      <pc:docMkLst>
        <pc:docMk/>
      </pc:docMkLst>
      <pc:sldChg chg="modSp mod">
        <pc:chgData name="Ortensa ." userId="691afe78e131124f" providerId="LiveId" clId="{2EA450B9-114D-4734-8CA8-835804C15576}" dt="2026-07-28T09:20:58.836" v="208" actId="20577"/>
        <pc:sldMkLst>
          <pc:docMk/>
          <pc:sldMk cId="0" sldId="257"/>
        </pc:sldMkLst>
        <pc:spChg chg="mod">
          <ac:chgData name="Ortensa ." userId="691afe78e131124f" providerId="LiveId" clId="{2EA450B9-114D-4734-8CA8-835804C15576}" dt="2026-07-28T09:19:34.010" v="0" actId="242"/>
          <ac:spMkLst>
            <pc:docMk/>
            <pc:sldMk cId="0" sldId="257"/>
            <ac:spMk id="7" creationId="{00000000-0000-0000-0000-000000000000}"/>
          </ac:spMkLst>
        </pc:spChg>
        <pc:spChg chg="mod">
          <ac:chgData name="Ortensa ." userId="691afe78e131124f" providerId="LiveId" clId="{2EA450B9-114D-4734-8CA8-835804C15576}" dt="2026-07-28T09:20:58.836" v="208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Ortensa ." userId="691afe78e131124f" providerId="LiveId" clId="{2EA450B9-114D-4734-8CA8-835804C15576}" dt="2026-07-28T09:19:34.010" v="0" actId="242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Ortensa ." userId="691afe78e131124f" providerId="LiveId" clId="{2EA450B9-114D-4734-8CA8-835804C15576}" dt="2026-07-28T09:21:16.846" v="209" actId="242"/>
        <pc:sldMkLst>
          <pc:docMk/>
          <pc:sldMk cId="0" sldId="258"/>
        </pc:sldMkLst>
        <pc:spChg chg="mod">
          <ac:chgData name="Ortensa ." userId="691afe78e131124f" providerId="LiveId" clId="{2EA450B9-114D-4734-8CA8-835804C15576}" dt="2026-07-28T09:21:16.846" v="209" actId="242"/>
          <ac:spMkLst>
            <pc:docMk/>
            <pc:sldMk cId="0" sldId="258"/>
            <ac:spMk id="8" creationId="{00000000-0000-0000-0000-000000000000}"/>
          </ac:spMkLst>
        </pc:spChg>
        <pc:spChg chg="mod">
          <ac:chgData name="Ortensa ." userId="691afe78e131124f" providerId="LiveId" clId="{2EA450B9-114D-4734-8CA8-835804C15576}" dt="2026-07-28T09:21:16.846" v="209" actId="242"/>
          <ac:spMkLst>
            <pc:docMk/>
            <pc:sldMk cId="0" sldId="258"/>
            <ac:spMk id="13" creationId="{00000000-0000-0000-0000-000000000000}"/>
          </ac:spMkLst>
        </pc:spChg>
        <pc:spChg chg="mod">
          <ac:chgData name="Ortensa ." userId="691afe78e131124f" providerId="LiveId" clId="{2EA450B9-114D-4734-8CA8-835804C15576}" dt="2026-07-28T09:21:16.846" v="209" actId="242"/>
          <ac:spMkLst>
            <pc:docMk/>
            <pc:sldMk cId="0" sldId="258"/>
            <ac:spMk id="18" creationId="{00000000-0000-0000-0000-000000000000}"/>
          </ac:spMkLst>
        </pc:spChg>
        <pc:spChg chg="mod">
          <ac:chgData name="Ortensa ." userId="691afe78e131124f" providerId="LiveId" clId="{2EA450B9-114D-4734-8CA8-835804C15576}" dt="2026-07-28T09:21:16.846" v="209" actId="242"/>
          <ac:spMkLst>
            <pc:docMk/>
            <pc:sldMk cId="0" sldId="258"/>
            <ac:spMk id="23" creationId="{00000000-0000-0000-0000-000000000000}"/>
          </ac:spMkLst>
        </pc:spChg>
      </pc:sldChg>
      <pc:sldChg chg="addSp delSp modSp mod">
        <pc:chgData name="Ortensa ." userId="691afe78e131124f" providerId="LiveId" clId="{2EA450B9-114D-4734-8CA8-835804C15576}" dt="2026-07-28T15:55:48.499" v="227" actId="1076"/>
        <pc:sldMkLst>
          <pc:docMk/>
          <pc:sldMk cId="0" sldId="260"/>
        </pc:sldMkLst>
        <pc:spChg chg="mod">
          <ac:chgData name="Ortensa ." userId="691afe78e131124f" providerId="LiveId" clId="{2EA450B9-114D-4734-8CA8-835804C15576}" dt="2026-07-28T15:55:48.499" v="227" actId="1076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Ortensa ." userId="691afe78e131124f" providerId="LiveId" clId="{2EA450B9-114D-4734-8CA8-835804C15576}" dt="2026-07-28T15:55:43.858" v="226" actId="478"/>
          <ac:spMkLst>
            <pc:docMk/>
            <pc:sldMk cId="0" sldId="260"/>
            <ac:spMk id="10" creationId="{204ABE7A-DC6E-BF9D-5D93-7E9C092092AF}"/>
          </ac:spMkLst>
        </pc:spChg>
        <pc:picChg chg="del">
          <ac:chgData name="Ortensa ." userId="691afe78e131124f" providerId="LiveId" clId="{2EA450B9-114D-4734-8CA8-835804C15576}" dt="2026-07-28T15:54:03.467" v="210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Ortensa ." userId="691afe78e131124f" providerId="LiveId" clId="{2EA450B9-114D-4734-8CA8-835804C15576}" dt="2026-07-28T15:54:26.016" v="213" actId="1076"/>
          <ac:picMkLst>
            <pc:docMk/>
            <pc:sldMk cId="0" sldId="260"/>
            <ac:picMk id="8" creationId="{65E0FCD5-1DCD-5E7C-0E90-2FFA1092B2BF}"/>
          </ac:picMkLst>
        </pc:picChg>
        <pc:cxnChg chg="add del mod">
          <ac:chgData name="Ortensa ." userId="691afe78e131124f" providerId="LiveId" clId="{2EA450B9-114D-4734-8CA8-835804C15576}" dt="2026-07-28T15:55:41.679" v="225" actId="478"/>
          <ac:cxnSpMkLst>
            <pc:docMk/>
            <pc:sldMk cId="0" sldId="260"/>
            <ac:cxnSpMk id="12" creationId="{0E491734-262B-33C9-722B-0F6CF6018CEA}"/>
          </ac:cxnSpMkLst>
        </pc:cxnChg>
      </pc:sldChg>
      <pc:sldChg chg="addSp delSp modSp mod">
        <pc:chgData name="Ortensa ." userId="691afe78e131124f" providerId="LiveId" clId="{2EA450B9-114D-4734-8CA8-835804C15576}" dt="2026-07-28T15:56:40.328" v="241" actId="1076"/>
        <pc:sldMkLst>
          <pc:docMk/>
          <pc:sldMk cId="0" sldId="261"/>
        </pc:sldMkLst>
        <pc:spChg chg="mod">
          <ac:chgData name="Ortensa ." userId="691afe78e131124f" providerId="LiveId" clId="{2EA450B9-114D-4734-8CA8-835804C15576}" dt="2026-07-28T15:56:01.983" v="232" actId="20577"/>
          <ac:spMkLst>
            <pc:docMk/>
            <pc:sldMk cId="0" sldId="261"/>
            <ac:spMk id="6" creationId="{00000000-0000-0000-0000-000000000000}"/>
          </ac:spMkLst>
        </pc:spChg>
        <pc:picChg chg="del">
          <ac:chgData name="Ortensa ." userId="691afe78e131124f" providerId="LiveId" clId="{2EA450B9-114D-4734-8CA8-835804C15576}" dt="2026-07-28T15:55:55.289" v="228" actId="478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Ortensa ." userId="691afe78e131124f" providerId="LiveId" clId="{2EA450B9-114D-4734-8CA8-835804C15576}" dt="2026-07-28T15:55:55.289" v="228" actId="478"/>
          <ac:picMkLst>
            <pc:docMk/>
            <pc:sldMk cId="0" sldId="261"/>
            <ac:picMk id="5" creationId="{00000000-0000-0000-0000-000000000000}"/>
          </ac:picMkLst>
        </pc:picChg>
        <pc:picChg chg="add mod">
          <ac:chgData name="Ortensa ." userId="691afe78e131124f" providerId="LiveId" clId="{2EA450B9-114D-4734-8CA8-835804C15576}" dt="2026-07-28T15:56:38.871" v="239" actId="1076"/>
          <ac:picMkLst>
            <pc:docMk/>
            <pc:sldMk cId="0" sldId="261"/>
            <ac:picMk id="10" creationId="{90196297-7E17-805E-2AB4-099225277AFE}"/>
          </ac:picMkLst>
        </pc:picChg>
        <pc:picChg chg="add mod">
          <ac:chgData name="Ortensa ." userId="691afe78e131124f" providerId="LiveId" clId="{2EA450B9-114D-4734-8CA8-835804C15576}" dt="2026-07-28T15:56:40.328" v="241" actId="1076"/>
          <ac:picMkLst>
            <pc:docMk/>
            <pc:sldMk cId="0" sldId="261"/>
            <ac:picMk id="12" creationId="{9105C9AA-B698-54FC-2655-27216F3401A9}"/>
          </ac:picMkLst>
        </pc:picChg>
      </pc:sldChg>
      <pc:sldChg chg="modSp mod">
        <pc:chgData name="Ortensa ." userId="691afe78e131124f" providerId="LiveId" clId="{2EA450B9-114D-4734-8CA8-835804C15576}" dt="2026-07-28T15:57:27.385" v="275" actId="1036"/>
        <pc:sldMkLst>
          <pc:docMk/>
          <pc:sldMk cId="0" sldId="263"/>
        </pc:sldMkLst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Ortensa ." userId="691afe78e131124f" providerId="LiveId" clId="{2EA450B9-114D-4734-8CA8-835804C15576}" dt="2026-07-28T15:57:27.385" v="275" actId="1036"/>
          <ac:spMkLst>
            <pc:docMk/>
            <pc:sldMk cId="0" sldId="263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19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3840480" cy="3840480"/>
          </a:xfrm>
          <a:prstGeom prst="ellipse">
            <a:avLst/>
          </a:prstGeom>
          <a:ln w="9525">
            <a:solidFill>
              <a:srgbClr val="4C5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-548640"/>
            <a:ext cx="2468880" cy="2468880"/>
          </a:xfrm>
          <a:prstGeom prst="ellipse">
            <a:avLst/>
          </a:prstGeom>
          <a:ln w="9525">
            <a:solidFill>
              <a:srgbClr val="C97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5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🚧  Case study in progress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HOSPITALITY · POWER BI · MEWS + PRIMAVERA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Reporting Platform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4206240" cy="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Ortensa Adhamidhi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Analyst &amp; Analytics Engineer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systems, no single</a:t>
            </a:r>
            <a:endParaRPr lang="en-US" sz="2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of truth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69464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🛎️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lived only in Mews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8163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 and bookings sat inside the PMS for each property, disconnected from financial performance.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12464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actuals lived only in Primavera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9593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P&amp;L existed in the ERP, reachable only through the Primavera software – not built for reporting or analyzing property performance.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754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lived only in Excel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1023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and department budgets were maintained in spreadsheets outside both systems, with no shared structure.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governed model, three source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Power Query integration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 functions call the Mews API directly; a SQL Server connection pulls P&amp;L actuals from Primavera; Excel budgets feed the same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3136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for occupancy, financial actuals, and budget, joined to Date, Unit, and Cost Center dimensions.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for Actual vs. Budget vs. 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422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YTD, and prior-year comparisons built to compare cleanly across 18 properties and head office.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16052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4434840"/>
            <a:ext cx="502920" cy="50292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by property &amp; department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5422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property manager and department head opens the same report, filtered to exactly their own data.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Star-schema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75504" y="17830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75504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9904" y="2331720"/>
            <a:ext cx="0" cy="32004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10512" y="2651760"/>
            <a:ext cx="7955280" cy="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10512" y="2651760"/>
            <a:ext cx="0" cy="32004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2272" y="2651760"/>
            <a:ext cx="0" cy="32004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14032" y="2651760"/>
            <a:ext cx="0" cy="32004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65792" y="2651760"/>
            <a:ext cx="0" cy="32004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7E7EF"/>
          </a:solidFill>
          <a:ln w="12700">
            <a:solidFill>
              <a:srgbClr val="4C5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5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97180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7E7EF"/>
          </a:solidFill>
          <a:ln w="12700">
            <a:solidFill>
              <a:srgbClr val="4C5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5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OccupancyByPeriod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97180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7E7EF"/>
          </a:solidFill>
          <a:ln w="12700">
            <a:solidFill>
              <a:srgbClr val="4C5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5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5360" y="297180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7E7EF"/>
          </a:solidFill>
          <a:ln w="12700">
            <a:solidFill>
              <a:srgbClr val="4C5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5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10512" y="3611880"/>
            <a:ext cx="0" cy="27432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62272" y="3611880"/>
            <a:ext cx="0" cy="27432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14032" y="3611880"/>
            <a:ext cx="0" cy="27432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65792" y="3611880"/>
            <a:ext cx="0" cy="27432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10512" y="3886200"/>
            <a:ext cx="7955280" cy="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88920" y="3886200"/>
            <a:ext cx="0" cy="68580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3886200"/>
            <a:ext cx="0" cy="68580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72600" y="3886200"/>
            <a:ext cx="0" cy="68580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88920" y="3886200"/>
            <a:ext cx="6583680" cy="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17320" y="45720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1732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5720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Centers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01000" y="45720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0100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5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 </a:t>
            </a:r>
            <a:r>
              <a:rPr lang="en-US" sz="11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 tables      □  Dimension tables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DASHBOARD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KPIs at a glance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857825" y="1984008"/>
            <a:ext cx="3905450" cy="1168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KPI slicer redraws the three right-hand charts across more than 30 metrics — headline figures like GOP, GOP (2), EBITDA, EBT, and Unit Margin; occupancy metrics (Occupancy Rate, Available/Occupied Beds, Average Bed Rate); department profit (Rooms, F&amp;B, OPC); and per-occupied-bed cost ratios (Cleaning/POB, Electricity/POB, Water/POB, Food Cost, and more).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5/9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E0FCD5-1DCD-5E7C-0E90-2FFA1092B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6936213" cy="4609757"/>
          </a:xfrm>
          <a:prstGeom prst="rect">
            <a:avLst/>
          </a:prstGeom>
        </p:spPr>
      </p:pic>
      <p:sp>
        <p:nvSpPr>
          <p:cNvPr id="10" name="Shape 19">
            <a:extLst>
              <a:ext uri="{FF2B5EF4-FFF2-40B4-BE49-F238E27FC236}">
                <a16:creationId xmlns:a16="http://schemas.microsoft.com/office/drawing/2014/main" id="{204ABE7A-DC6E-BF9D-5D93-7E9C092092AF}"/>
              </a:ext>
            </a:extLst>
          </p:cNvPr>
          <p:cNvSpPr/>
          <p:nvPr/>
        </p:nvSpPr>
        <p:spPr>
          <a:xfrm>
            <a:off x="5954187" y="1903396"/>
            <a:ext cx="0" cy="274320"/>
          </a:xfrm>
          <a:prstGeom prst="line">
            <a:avLst/>
          </a:prstGeom>
          <a:noFill/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DASHBOARD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summaries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640080" y="5166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card breaks down what was actually spent - salaries versus other costs - against Budget and Last Year, from Rooms, F&amp;B, and OPC at property level to A&amp;G, Marketing, Sales, E&amp;M, and RM at head office.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40080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shown are synthetic — no real guest, revenue, or financial data.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6/9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196297-7E17-805E-2AB4-099225277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5976705" cy="3648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05C9AA-B698-54FC-2655-27216F340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537" y="1463040"/>
            <a:ext cx="5312222" cy="3648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Power BI semantic model sits on top of three connected systems: Power Query (M) calls the Mews API directly for stay data, a SQL Server connection pulls financial actuals from Primavera, and Excel feeds the budget. DAX handles the variance and YTD logic, and row-level security controls access by property and department. The same model is designed to extend as new reporting layers — like the day-to-day operations report now in development — are added on 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225296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BI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93976" y="2880360"/>
            <a:ext cx="1897380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93976" y="2880360"/>
            <a:ext cx="189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Query (M)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19956" y="2880360"/>
            <a:ext cx="745236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19956" y="2880360"/>
            <a:ext cx="745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93792" y="2880360"/>
            <a:ext cx="1225296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93792" y="28803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Mews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47688" y="2880360"/>
            <a:ext cx="2281428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47688" y="2880360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Primavera ERP (SQL)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57716" y="2880360"/>
            <a:ext cx="1513332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57716" y="2880360"/>
            <a:ext cx="1513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2185416" cy="502920"/>
          </a:xfrm>
          <a:prstGeom prst="roundRect">
            <a:avLst>
              <a:gd name="adj" fmla="val 50000"/>
            </a:avLst>
          </a:prstGeom>
          <a:solidFill>
            <a:srgbClr val="F5E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Row-Level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OUTCOME &amp;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governed model, replacing a manual close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6393"/>
            <a:ext cx="457200" cy="45720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63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26393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unified into one governed model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21240" y="1853825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21240" y="1853825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603633"/>
            <a:ext cx="457200" cy="45720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036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03633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properties plus head office, on one platform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921240" y="2631065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21240" y="2631065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380873"/>
            <a:ext cx="457200" cy="45720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3808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380873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Budget vs. Last Year, automated with YTD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921240" y="3408305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21240" y="3408305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158113"/>
            <a:ext cx="457200" cy="45720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581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158113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by property and department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921240" y="4185545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21240" y="4185545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935353"/>
            <a:ext cx="457200" cy="457200"/>
          </a:xfrm>
          <a:prstGeom prst="ellipse">
            <a:avLst/>
          </a:prstGeom>
          <a:solidFill>
            <a:srgbClr val="E7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9353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935353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 report — stay, connect &amp; property benchmarking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921240" y="4962785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21240" y="4962785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Wotels — Case Study    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ln w="9525">
            <a:solidFill>
              <a:srgbClr val="4C5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5029200"/>
            <a:ext cx="2468880" cy="2468880"/>
          </a:xfrm>
          <a:prstGeom prst="ellipse">
            <a:avLst/>
          </a:prstGeom>
          <a:ln w="9525">
            <a:solidFill>
              <a:srgbClr val="C97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put your data to work.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freelance BI &amp; data engineering projects, and full-time data engineering roles.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✉️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oadhamidhi@gmail.com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linkedin.com/in/ortensa-adhamidhi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github.com/ortensa-adhamidhi/wotels-case-study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Ortensa Adhamidhi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698</Words>
  <Application>Microsoft Office PowerPoint</Application>
  <PresentationFormat>Widescreen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Ortensa .</cp:lastModifiedBy>
  <cp:revision>1</cp:revision>
  <dcterms:created xsi:type="dcterms:W3CDTF">2026-07-28T09:12:36Z</dcterms:created>
  <dcterms:modified xsi:type="dcterms:W3CDTF">2026-07-28T15:57:34Z</dcterms:modified>
</cp:coreProperties>
</file>